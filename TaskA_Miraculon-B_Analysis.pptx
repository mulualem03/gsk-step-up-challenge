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200" kern="0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MIRACULON-B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new drug beat the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of care?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late-phase oncology trial analysis · 752 patients · 2 treatment arms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· Data Analysis &amp; Modelling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6355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GSK x DigData Step Up Career Challenge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we set out to answer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regulator and prescribers need to know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" cy="54864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solidFill>
            <a:srgbClr val="15171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GSK has finished a late-phase clinical trial for </a:t>
            </a:r>
            <a:pPr indent="0" marL="0">
              <a:buNone/>
            </a:pPr>
            <a:r>
              <a:rPr lang="en-US" sz="1600" b="1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Miraculon-B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candidate cancer drug for solid tumours.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compared it head-to-head against the current standard of care to find out:
</a:t>
            </a:r>
            <a:pPr indent="0" marL="0">
              <a:buNone/>
            </a:pPr>
            <a:r>
              <a:rPr lang="en-US" sz="1600" b="1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patients respond more often to Miraculon-B than to control?
</a:t>
            </a:r>
            <a:pPr indent="0" marL="0">
              <a:buNone/>
            </a:pPr>
            <a:r>
              <a:rPr lang="en-US" sz="1600" b="1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who will respond from age, weight, BMI, sex or biomarker?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5212080" cy="45720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2331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95528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in clinical-study.csv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0" y="2743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subject_id, age, sex, weight, height, trt_grp, response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5120" y="3566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768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95528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in protein-levels.csv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55280" y="3977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participant_id, protein_concentration (μg/L)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0" y="4800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955280" y="4846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after cleaning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55280" y="5212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duplicate · 3 paediatric · 16 missing values removed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Miraculon-B Clinical Trial Analysis  •  GSK x DigData Step Up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analytical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to clinical insight in seven steps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" cy="54864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486400" cy="77724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91640"/>
            <a:ext cx="777240" cy="777240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08760" y="17647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0756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both CSVs into pandas data frames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486400" cy="77724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1691640"/>
            <a:ext cx="777240" cy="777240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269480" y="17647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69480" y="20756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shape, types, distributions, missingness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5486400" cy="77724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651760"/>
            <a:ext cx="777240" cy="777240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508760" y="27249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3035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duplicate row · 3 paediatric (age &lt;18) · 16 NAs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2651760"/>
            <a:ext cx="5486400" cy="77724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2651760"/>
            <a:ext cx="777240" cy="777240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269480" y="27249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69480" y="3035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BMI = weight / height²; merge protein data on subject_id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611880"/>
            <a:ext cx="5486400" cy="77724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611880"/>
            <a:ext cx="777240" cy="777240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611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1508760" y="36850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508760" y="39959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and crosstabs by treatment arm and response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3611880"/>
            <a:ext cx="5486400" cy="77724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9360" y="3611880"/>
            <a:ext cx="777240" cy="777240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3611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7269480" y="36850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269480" y="39959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Boxplots, histograms — see the shape of the data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572000"/>
            <a:ext cx="5486400" cy="77724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4572000"/>
            <a:ext cx="777240" cy="777240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572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1508760" y="4645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508760" y="49560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+ random forest to rank predictors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Miraculon-B Clinical Trial Analysis  •  GSK x DigData Step Up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finding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Miraculon-B nearly doubles the response rate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" cy="54864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5B67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32.6%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of care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of 377 patients responded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55.2%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48640" y="5303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Miraculon-B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5669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of 375 patients responded</a:t>
            </a:r>
            <a:endParaRPr lang="en-US" sz="1100" dirty="0"/>
          </a:p>
        </p:txBody>
      </p:sp>
      <p:pic>
        <p:nvPicPr>
          <p:cNvPr id="11" name="Image 0" descr="/home/claude/fig1_response_r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691640"/>
            <a:ext cx="7040880" cy="42062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0" y="6035040"/>
            <a:ext cx="7040880" cy="411480"/>
          </a:xfrm>
          <a:prstGeom prst="rect">
            <a:avLst/>
          </a:prstGeom>
          <a:solidFill>
            <a:srgbClr val="15171A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0" y="60350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statistically significant   •   χ² = 38.0,  p &lt; 0.0000001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Miraculon-B Clinical Trial Analysis  •  GSK x DigData Step Up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weight and BMI tell us little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do not separate responders from non-responders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" cy="54864"/>
          </a:xfrm>
          <a:prstGeom prst="rect">
            <a:avLst/>
          </a:prstGeom>
          <a:solidFill>
            <a:srgbClr val="F36633"/>
          </a:solidFill>
          <a:ln/>
        </p:spPr>
      </p:sp>
      <p:pic>
        <p:nvPicPr>
          <p:cNvPr id="5" name="Image 0" descr="/home/claude/fig2_age_by_respon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86400" cy="3657600"/>
          </a:xfrm>
          <a:prstGeom prst="rect">
            <a:avLst/>
          </a:prstGeom>
        </p:spPr>
      </p:pic>
      <p:pic>
        <p:nvPicPr>
          <p:cNvPr id="6" name="Image 1" descr="/home/claude/fig3_bmi_by_respon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486400" cy="3657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532120"/>
            <a:ext cx="11064240" cy="9144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8" name="Shape 4"/>
          <p:cNvSpPr/>
          <p:nvPr/>
        </p:nvSpPr>
        <p:spPr>
          <a:xfrm>
            <a:off x="548640" y="5532120"/>
            <a:ext cx="73152" cy="914400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" y="5623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77240" y="5897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are virtually identical across responders and non-responders in both arms. We cannot use age, weight or BMI alone to identify who will benefit. We need a sharper signal.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Miraculon-B Clinical Trial Analysis  •  GSK x DigData Step Up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biomarker: protein concentration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baseline protein → much higher chance of responding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" cy="54864"/>
          </a:xfrm>
          <a:prstGeom prst="rect">
            <a:avLst/>
          </a:prstGeom>
          <a:solidFill>
            <a:srgbClr val="F36633"/>
          </a:solidFill>
          <a:ln/>
        </p:spPr>
      </p:sp>
      <p:pic>
        <p:nvPicPr>
          <p:cNvPr id="5" name="Image 0" descr="/home/claude/fig4_protein_by_respon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86400" cy="3657600"/>
          </a:xfrm>
          <a:prstGeom prst="rect">
            <a:avLst/>
          </a:prstGeom>
        </p:spPr>
      </p:pic>
      <p:pic>
        <p:nvPicPr>
          <p:cNvPr id="6" name="Image 1" descr="/home/claude/fig5_protein_histo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486400" cy="3657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532120"/>
            <a:ext cx="11064240" cy="914400"/>
          </a:xfrm>
          <a:prstGeom prst="rect">
            <a:avLst/>
          </a:prstGeom>
          <a:solidFill>
            <a:srgbClr val="15171A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5577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104 μg/L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40080" y="6053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in responders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108960" y="5577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136 μg/L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3108960" y="6053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in non-responders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577840" y="5577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30%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5577840" y="6053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 responders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046720" y="5577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&lt; 10⁻⁵⁰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8046720" y="6053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two-sample t-test, t = -16.2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Miraculon-B Clinical Trial Analysis  •  GSK x DigData Step Up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model: who will respond?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and random forest agree on what matters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" cy="54864"/>
          </a:xfrm>
          <a:prstGeom prst="rect">
            <a:avLst/>
          </a:prstGeom>
          <a:solidFill>
            <a:srgbClr val="F36633"/>
          </a:solidFill>
          <a:ln/>
        </p:spPr>
      </p:sp>
      <p:pic>
        <p:nvPicPr>
          <p:cNvPr id="5" name="Image 0" descr="/home/claude/fig7_model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7680960" cy="3108960"/>
          </a:xfrm>
          <a:prstGeom prst="rect">
            <a:avLst/>
          </a:prstGeom>
        </p:spPr>
      </p:pic>
      <p:pic>
        <p:nvPicPr>
          <p:cNvPr id="6" name="Image 1" descr="/home/claude/fig8_roc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645920"/>
            <a:ext cx="3200400" cy="3108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029200"/>
            <a:ext cx="3520440" cy="13716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5120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0.86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731520" y="5715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31520" y="5989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CV: 0.861 ± 0.023 — strong discrimination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251960" y="5029200"/>
            <a:ext cx="3520440" cy="13716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2" name="Text 8"/>
          <p:cNvSpPr/>
          <p:nvPr/>
        </p:nvSpPr>
        <p:spPr>
          <a:xfrm>
            <a:off x="4434840" y="5120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4434840" y="5715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434840" y="5989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concentration dominates both models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955280" y="5029200"/>
            <a:ext cx="3520440" cy="13716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6" name="Text 12"/>
          <p:cNvSpPr/>
          <p:nvPr/>
        </p:nvSpPr>
        <p:spPr>
          <a:xfrm>
            <a:off x="8138160" y="5120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8138160" y="5715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Second-strongest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138160" y="5989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arm — Miraculon-B helps overall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Miraculon-B Clinical Trial Analysis  •  GSK x DigData Step Up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variables, all sub-groups — one panel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" cy="54864"/>
          </a:xfrm>
          <a:prstGeom prst="rect">
            <a:avLst/>
          </a:prstGeom>
          <a:solidFill>
            <a:srgbClr val="F36633"/>
          </a:solidFill>
          <a:ln/>
        </p:spPr>
      </p:sp>
      <p:pic>
        <p:nvPicPr>
          <p:cNvPr id="5" name="Image 0" descr="/home/claude/fig6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554480"/>
            <a:ext cx="960120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Miraculon-B Clinical Trial Analysis  •  GSK x DigData Step Up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prescribers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data answer to a clinical recommendation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" cy="54864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1371600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01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0756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Miraculon-B works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trial population, response rate of 55% comfortably beats 33% on standard of care. The 22-percentage-point gap is highly statistically significant (p &lt; 10⁻⁹).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246120"/>
            <a:ext cx="73152" cy="1371600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355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SUB-GROUP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63016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patients benefit far more than others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40233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patient's baseline protein concentration explains most of the variation in response — far more than age, weight, BMI or sex. Patients with lower baseline protein are the strongest responders.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8006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800600"/>
            <a:ext cx="73152" cy="1371600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910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518464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 on the biomarker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7240" y="55778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treatment arm with protein concentration gives an AUC of 0.86. That is enough discriminative power to support a companion-diagnostic style prescribing aid.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Miraculon-B Clinical Trial Analysis  •  GSK x DigData Step Up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not do — yet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 and a path to a regulator-ready package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" cy="54864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1671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teaching dataset, not the real GSK trial — magnitude of effects may differ in production.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1272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events excluded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focused on efficacy. The same protein is also linked to side effects (see Path B).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069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40873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survival analysis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4348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measured tumour-shrinkage response only — not progression-free or overall survival.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5029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" y="504748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validation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53949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and tested in one trial; would need replication in an independent cohort.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691640"/>
            <a:ext cx="5212080" cy="4572000"/>
          </a:xfrm>
          <a:prstGeom prst="rect">
            <a:avLst/>
          </a:prstGeom>
          <a:solidFill>
            <a:srgbClr val="15171A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2286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2286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response + safety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0" y="2606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 the analysis on the full taskB dataset (adds severe AE flag).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3200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1520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clinical cut-off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0" y="3520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protein threshold that maximises net benefit, not just AUC.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0" y="4114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1520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prescriber tool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0" y="4434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model behind a simple UI (covered in Path B).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75120" y="50292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315200" y="5029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0" y="5349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a held-out trial cohort before regulatory submission.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Miraculon-B Clinical Trial Analysis  •  GSK x DigData Step Up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Miraculon-B nearly doubles response rates </a:t>
            </a:r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standard of care, and a single blood biomarker — protein concentration — predicts who will benefit with AUC = 0.86.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4297680"/>
            <a:ext cx="3520440" cy="1188720"/>
          </a:xfrm>
          <a:prstGeom prst="rect">
            <a:avLst/>
          </a:prstGeom>
          <a:solidFill>
            <a:srgbClr val="1F2329"/>
          </a:solidFill>
          <a:ln w="12700">
            <a:solidFill>
              <a:srgbClr val="F366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3891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55% vs 33%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4983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4297680"/>
            <a:ext cx="3520440" cy="1188720"/>
          </a:xfrm>
          <a:prstGeom prst="rect">
            <a:avLst/>
          </a:prstGeom>
          <a:solidFill>
            <a:srgbClr val="1F2329"/>
          </a:solidFill>
          <a:ln w="12700">
            <a:solidFill>
              <a:srgbClr val="F366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43891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−30%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663440" y="4983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in responders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4297680"/>
            <a:ext cx="3520440" cy="1188720"/>
          </a:xfrm>
          <a:prstGeom prst="rect">
            <a:avLst/>
          </a:prstGeom>
          <a:solidFill>
            <a:srgbClr val="1F2329"/>
          </a:solidFill>
          <a:ln w="12700">
            <a:solidFill>
              <a:srgbClr val="F366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43891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412480" y="4983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AUC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   ·   GSK x DigData Step Up Career Challenge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Miraculon-B Clinical Trial Analysis</dc:title>
  <dc:subject>PptxGenJS Presentation</dc:subject>
  <dc:creator>GSK Step Up Career Challenge</dc:creator>
  <cp:lastModifiedBy>GSK Step Up Career Challenge</cp:lastModifiedBy>
  <cp:revision>1</cp:revision>
  <dcterms:created xsi:type="dcterms:W3CDTF">2026-05-04T13:37:03Z</dcterms:created>
  <dcterms:modified xsi:type="dcterms:W3CDTF">2026-05-04T13:37:03Z</dcterms:modified>
</cp:coreProperties>
</file>